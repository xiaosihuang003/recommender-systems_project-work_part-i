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35"/>
  </p:normalViewPr>
  <p:slideViewPr>
    <p:cSldViewPr snapToGrid="0">
      <p:cViewPr>
        <p:scale>
          <a:sx n="86" d="100"/>
          <a:sy n="86" d="100"/>
        </p:scale>
        <p:origin x="456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AA1530-BBF0-F94D-A458-1B9B062BF84B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86FA6B-2CB6-414F-9C23-CA78BF04C56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964618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86FA6B-2CB6-414F-9C23-CA78BF04C563}" type="slidenum">
              <a:rPr lang="en-FI" smtClean="0"/>
              <a:t>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23314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83151-7DD6-5C9E-729A-1C1E0BFF5C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96F3E3-9B7B-46EC-7A81-E162F69CA2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0B239-5CF2-7E8C-1009-736A933E3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E6177-1556-C573-9B6A-014F704E8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3E6EC-6A1C-8A61-9094-497C308EA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6141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D9DA5-2A7E-2337-3DF3-BE7345DD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439C7-685F-2BBB-5F0B-32AC67B88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8AF33-F6AE-CDC3-3844-B2AECF7CA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DF6A7-E63A-308C-D0E3-154F2EC28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63C74-7E67-4974-6804-8060BA36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6078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EA0BB-23D3-7AA2-9AFB-1AF154FE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476CA-4BFB-0721-5283-11C558204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3E7A9-1ABA-D2FF-FBFA-6F983E60C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B8A1A-466A-82FF-EB4A-847501201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EF1DF-2806-481F-6CE5-1CAE9FD51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9144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DCFCD-0FBD-C3AE-4D19-16AE39203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D1DD4-B3A2-1719-6407-79D9E90B27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F86BA4-EB5B-851C-F5FF-89DB08ABE1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A2C7E-3711-EEED-A59A-EE54AA79C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A4867A-2DAA-543B-1782-6C1CCD8C5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1D8CF6-D06F-047F-E694-72A026C6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33401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C3FBC-0B0C-1265-C49F-21D6604E2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32C91B-F71C-C686-0C11-A0FD40537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1CB0D5-0166-3625-2010-EBFA4DFA7D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DE1A29-B398-3A6E-24EF-512AE53D7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CC4B45-5F75-59A0-5D5B-F0048A999C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8F5FFB-D8C1-4792-F524-86AECC77C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544798-C844-5D44-5E48-306C190F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D763AC-163C-DCA0-602D-8EA404442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690984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887B-60B6-9862-71EA-3A97B5964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8DDB5A-7E10-7A3F-BB1E-0510D15D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850EFD-C447-FF32-6C9C-8DC5B06CA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9086C1-8B2C-868A-5E4D-79744E666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56764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4FCB75-EC9C-76E7-D93A-AA5B4D98E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858BBD-D243-6A0C-1C1E-4C321819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85FAC-61EF-2DCA-C326-49DA7D2FD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09827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342D1-84FE-40F7-C0A8-5CA2580E1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655A3-4CAC-2DF6-12A1-DA550C93B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B2DE7-A623-6385-DA52-D253DEDB8E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7D5D-097A-0DCE-2EA0-0FF87DFA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0E7142-B2A6-7C51-064C-D211F483C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E4260-E9C6-0BBF-2C6F-73C718BD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2889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91B61-1E4D-F745-9647-85E4283C0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975E0-321A-7FFC-1DE9-6549B70193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D5E3C9-FF72-E28D-30B5-734FA09EA1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EEA571-27B8-0962-A546-C8FCECBFF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CD74E-C480-14AA-622B-35AE33B0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ECAC5C-19AE-6843-6A87-9FFE5400B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37851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2A60A-3255-CE29-7CB3-4C01DEA18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D1556-CC33-06CD-0633-2174E519D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3E461-8C7F-5336-7FD6-C464D642F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93F7-A2E3-0002-3DD3-23C3B6C92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402E3-51E2-7DEE-4128-E2D6D1C55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275181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3C67C0-7ED7-3726-525E-16894C859A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164C7A-5547-42B2-A6EC-02BDDCA3B5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F71F6-B358-0537-EB6F-FE36CA13D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99216-DAAF-62E7-43BC-7303F2BED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11D33-C073-1FB6-C0D4-AAC71F2A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33236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9BB8D7-8003-1964-3E7C-09FFB970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73B9C-3C4F-96E1-A3F2-6ACEA2CFA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E2C3E-3FE3-B4C0-955A-DE6FC017C2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A18288-B85B-2D44-B86D-F3A0FAFA3DFF}" type="datetimeFigureOut">
              <a:rPr lang="en-FI" smtClean="0"/>
              <a:t>11.11.2025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2C053-EB03-52B6-DC93-4B2BFE02C5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85778-437F-4CCD-C912-15F48354E9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5924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9AD82A-210C-49CE-87BC-DDB42C620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FAC650-DDE8-B0D7-77F5-AAC72A537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956" y="744072"/>
            <a:ext cx="6628917" cy="2387600"/>
          </a:xfrm>
        </p:spPr>
        <p:txBody>
          <a:bodyPr>
            <a:normAutofit/>
          </a:bodyPr>
          <a:lstStyle/>
          <a:p>
            <a:pPr algn="l"/>
            <a:r>
              <a:rPr lang="en-GB" sz="4800" dirty="0"/>
              <a:t>SDAA Sequential </a:t>
            </a:r>
            <a:br>
              <a:rPr lang="en-GB" sz="4800" dirty="0"/>
            </a:br>
            <a:r>
              <a:rPr lang="en-GB" sz="4800" dirty="0"/>
              <a:t>Group Recommendations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9F74C2-4B12-E370-7C2F-725D3A2CA6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6774" y="3785722"/>
            <a:ext cx="7481452" cy="1655762"/>
          </a:xfrm>
        </p:spPr>
        <p:txBody>
          <a:bodyPr>
            <a:normAutofit/>
          </a:bodyPr>
          <a:lstStyle/>
          <a:p>
            <a:pPr marL="342900" indent="-342900" algn="l">
              <a:buFontTx/>
              <a:buChar char="-"/>
            </a:pPr>
            <a:r>
              <a:rPr lang="en-GB" sz="2000" dirty="0"/>
              <a:t>Students: Oskari </a:t>
            </a:r>
            <a:r>
              <a:rPr lang="en-GB" sz="2000" dirty="0" err="1"/>
              <a:t>Perikangas</a:t>
            </a:r>
            <a:r>
              <a:rPr lang="en-US" sz="2000" dirty="0"/>
              <a:t>,</a:t>
            </a:r>
            <a:r>
              <a:rPr lang="en-GB" sz="2000" dirty="0"/>
              <a:t> Xiaosi Huang</a:t>
            </a:r>
          </a:p>
          <a:p>
            <a:pPr marL="342900" indent="-342900" algn="l">
              <a:buFontTx/>
              <a:buChar char="-"/>
            </a:pPr>
            <a:r>
              <a:rPr lang="en-GB" sz="2000" dirty="0"/>
              <a:t>Course: DATA.ML.360-2025-2026-1 Recommender Systems</a:t>
            </a:r>
          </a:p>
          <a:p>
            <a:pPr marL="342900" indent="-342900" algn="l">
              <a:buFontTx/>
              <a:buChar char="-"/>
            </a:pPr>
            <a:r>
              <a:rPr lang="en-GB" sz="2000" dirty="0"/>
              <a:t>Date: November 10, 2025</a:t>
            </a:r>
            <a:endParaRPr lang="en-FI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44213C-E423-4691-0541-A6F51D587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044" y="1863444"/>
            <a:ext cx="3937000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533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C31B7A-A3E7-BA38-8BCA-D0EC8DA1F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6AF06F-79AC-466E-33D7-87A9B86C0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322104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b="1" dirty="0"/>
              <a:t>From Static to Dynamic Group Recommendations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48816-206B-D873-43ED-4A206E5EE9F4}"/>
              </a:ext>
            </a:extLst>
          </p:cNvPr>
          <p:cNvSpPr txBox="1"/>
          <p:nvPr/>
        </p:nvSpPr>
        <p:spPr>
          <a:xfrm>
            <a:off x="795726" y="1452570"/>
            <a:ext cx="965129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GB" sz="2000" dirty="0"/>
              <a:t>The Limitations of</a:t>
            </a:r>
            <a:r>
              <a:rPr lang="zh-CN" altLang="en-US" sz="2000" dirty="0"/>
              <a:t> </a:t>
            </a:r>
            <a:r>
              <a:rPr lang="en-GB" sz="2000" dirty="0"/>
              <a:t>User-Based Collaborative Filtering and Group Recommendations</a:t>
            </a:r>
          </a:p>
          <a:p>
            <a:pPr latinLnBrk="1"/>
            <a:endParaRPr lang="en-GB" sz="2000" dirty="0"/>
          </a:p>
          <a:p>
            <a:pPr latinLnBrk="1"/>
            <a:r>
              <a:rPr lang="en-GB" b="1" dirty="0"/>
              <a:t>Example</a:t>
            </a:r>
            <a:r>
              <a:rPr lang="en-GB" dirty="0"/>
              <a:t>: Movie 1276 predictions</a:t>
            </a:r>
          </a:p>
          <a:p>
            <a:pPr latinLnBrk="1"/>
            <a:r>
              <a:rPr lang="en-GB" dirty="0"/>
              <a:t>• System predicts User 1 would rate it: </a:t>
            </a:r>
            <a:r>
              <a:rPr lang="en-GB" dirty="0">
                <a:solidFill>
                  <a:srgbClr val="FF0000"/>
                </a:solidFill>
              </a:rPr>
              <a:t>5.00</a:t>
            </a:r>
          </a:p>
          <a:p>
            <a:pPr latinLnBrk="1"/>
            <a:r>
              <a:rPr lang="en-GB" dirty="0"/>
              <a:t>• System predicts User 2 would rate it: </a:t>
            </a:r>
            <a:r>
              <a:rPr lang="en-GB" dirty="0">
                <a:solidFill>
                  <a:srgbClr val="FF0000"/>
                </a:solidFill>
              </a:rPr>
              <a:t>3.76</a:t>
            </a:r>
          </a:p>
          <a:p>
            <a:pPr latinLnBrk="1"/>
            <a:r>
              <a:rPr lang="en-GB" dirty="0"/>
              <a:t>• D</a:t>
            </a:r>
            <a:r>
              <a:rPr lang="en-GB" sz="2000" dirty="0"/>
              <a:t>isagreement : </a:t>
            </a:r>
            <a:r>
              <a:rPr lang="en-GB" sz="2000" dirty="0">
                <a:solidFill>
                  <a:srgbClr val="FF0000"/>
                </a:solidFill>
              </a:rPr>
              <a:t>1.24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174BC2-7A1A-CEEB-C0B0-5AA9A8B36211}"/>
              </a:ext>
            </a:extLst>
          </p:cNvPr>
          <p:cNvSpPr txBox="1"/>
          <p:nvPr/>
        </p:nvSpPr>
        <p:spPr>
          <a:xfrm>
            <a:off x="795726" y="3558772"/>
            <a:ext cx="9342684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GB" b="1" dirty="0"/>
              <a:t>Challenges:</a:t>
            </a:r>
          </a:p>
          <a:p>
            <a:pPr latinLnBrk="1"/>
            <a:r>
              <a:rPr lang="en-GB" dirty="0"/>
              <a:t>• Average method and Least misery methods don't learn from previous recommendations</a:t>
            </a:r>
          </a:p>
          <a:p>
            <a:pPr latinLnBrk="1"/>
            <a:r>
              <a:rPr lang="en-GB" dirty="0"/>
              <a:t>• Some users stay unhappy over multiple rounds</a:t>
            </a:r>
          </a:p>
          <a:p>
            <a:pPr latinLnBrk="1"/>
            <a:r>
              <a:rPr lang="en-GB" dirty="0"/>
              <a:t>• No adaptation to group dynamics</a:t>
            </a:r>
          </a:p>
          <a:p>
            <a:pPr latinLnBrk="1"/>
            <a:endParaRPr lang="en-GB" dirty="0"/>
          </a:p>
          <a:p>
            <a:pPr latinLnBrk="1"/>
            <a:r>
              <a:rPr lang="en-GB" b="1" dirty="0"/>
              <a:t>Solution: </a:t>
            </a:r>
            <a:r>
              <a:rPr lang="en-GB" dirty="0"/>
              <a:t>SDAA framework</a:t>
            </a:r>
          </a:p>
          <a:p>
            <a:pPr latinLnBrk="1"/>
            <a:r>
              <a:rPr lang="en-GB" dirty="0"/>
              <a:t>• Recommends movies over multiple rounds</a:t>
            </a:r>
          </a:p>
          <a:p>
            <a:pPr latinLnBrk="1"/>
            <a:r>
              <a:rPr lang="en-GB" dirty="0"/>
              <a:t>• Adjusts strategy based on user satisfaction</a:t>
            </a:r>
          </a:p>
          <a:p>
            <a:pPr latinLnBrk="1"/>
            <a:r>
              <a:rPr lang="en-GB" dirty="0"/>
              <a:t>• Balances group happiness and individual fairness</a:t>
            </a:r>
          </a:p>
          <a:p>
            <a:endParaRPr lang="en-FI" sz="1600" dirty="0"/>
          </a:p>
        </p:txBody>
      </p:sp>
    </p:spTree>
    <p:extLst>
      <p:ext uri="{BB962C8B-B14F-4D97-AF65-F5344CB8AC3E}">
        <p14:creationId xmlns:p14="http://schemas.microsoft.com/office/powerpoint/2010/main" val="2940064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69D9AC-A98A-B47C-F2C6-695074DDD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7071F1-D21F-9B52-3D70-5285F7B1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629" y="582353"/>
            <a:ext cx="10515600" cy="1325563"/>
          </a:xfrm>
        </p:spPr>
        <p:txBody>
          <a:bodyPr>
            <a:normAutofit/>
          </a:bodyPr>
          <a:lstStyle/>
          <a:p>
            <a:pPr latinLnBrk="1"/>
            <a:r>
              <a:rPr lang="en-GB" sz="3600" dirty="0"/>
              <a:t>SDAA Implementation</a:t>
            </a:r>
            <a:endParaRPr lang="en-GB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FAA45A0-010C-4811-F3D9-1C03FC7B28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474" y="4844207"/>
            <a:ext cx="6851892" cy="1056071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2314834-107A-67CC-E5D3-8C210DD9D9AD}"/>
              </a:ext>
            </a:extLst>
          </p:cNvPr>
          <p:cNvSpPr txBox="1">
            <a:spLocks/>
          </p:cNvSpPr>
          <p:nvPr/>
        </p:nvSpPr>
        <p:spPr>
          <a:xfrm>
            <a:off x="597698" y="1630858"/>
            <a:ext cx="11259522" cy="498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400" dirty="0"/>
              <a:t>1st </a:t>
            </a:r>
            <a:r>
              <a:rPr lang="en-GB" sz="2400" dirty="0"/>
              <a:t>satisfaction scores</a:t>
            </a:r>
            <a:r>
              <a:rPr lang="en-US" altLang="zh-CN" sz="2400" dirty="0"/>
              <a:t>:</a:t>
            </a:r>
            <a:r>
              <a:rPr lang="zh-CN" altLang="en-US" sz="2400" dirty="0"/>
              <a:t> </a:t>
            </a:r>
            <a:r>
              <a:rPr lang="en-GB" sz="2400" dirty="0"/>
              <a:t>Decides which movies to recommend to the group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sz="2400" dirty="0"/>
          </a:p>
          <a:p>
            <a:pPr marL="0" indent="0" latinLnBrk="1">
              <a:buNone/>
            </a:pPr>
            <a:r>
              <a:rPr lang="en-US" sz="2400" dirty="0"/>
              <a:t>2nd </a:t>
            </a:r>
            <a:r>
              <a:rPr lang="en-GB" sz="2400" dirty="0"/>
              <a:t>Alpha Adaptation </a:t>
            </a:r>
            <a:r>
              <a:rPr lang="en-US" altLang="zh-CN" sz="2400" dirty="0"/>
              <a:t>:</a:t>
            </a:r>
            <a:r>
              <a:rPr lang="zh-CN" altLang="en-US" sz="2400" dirty="0"/>
              <a:t> </a:t>
            </a:r>
            <a:r>
              <a:rPr lang="en-GB" sz="2400" dirty="0"/>
              <a:t>Measures how unfair the previous round was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altLang="zh-CN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sz="2400" dirty="0"/>
          </a:p>
          <a:p>
            <a:pPr marL="0" indent="0" latinLnBrk="1">
              <a:buNone/>
            </a:pPr>
            <a:r>
              <a:rPr lang="en-GB" sz="2400" dirty="0"/>
              <a:t>3rd Reward Evaluation</a:t>
            </a:r>
            <a:r>
              <a:rPr lang="en-US" altLang="zh-CN" sz="2400" dirty="0"/>
              <a:t>:</a:t>
            </a:r>
            <a:r>
              <a:rPr lang="zh-CN" altLang="en-US" sz="2400" dirty="0"/>
              <a:t> </a:t>
            </a:r>
            <a:r>
              <a:rPr lang="en-GB" sz="2400" dirty="0"/>
              <a:t>Balances group satisfaction and fairness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FI" sz="2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F6A2666-D701-9BE5-B950-CC1F9BE4C9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573" y="2184975"/>
            <a:ext cx="7772400" cy="46677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9DC0F78-2487-0B8D-A31B-30381CF312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474" y="3432696"/>
            <a:ext cx="7139066" cy="692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156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604309-E3D9-902A-373A-98D45C7A9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E38FE6-37EF-5475-5C94-B987CB802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828"/>
            <a:ext cx="10515600" cy="1325563"/>
          </a:xfrm>
        </p:spPr>
        <p:txBody>
          <a:bodyPr/>
          <a:lstStyle/>
          <a:p>
            <a:pPr latinLnBrk="1"/>
            <a:r>
              <a:rPr lang="en-GB" dirty="0"/>
              <a:t>How Alpha </a:t>
            </a:r>
            <a:r>
              <a:rPr lang="en-US" altLang="zh-CN" dirty="0"/>
              <a:t>a</a:t>
            </a:r>
            <a:r>
              <a:rPr lang="en-GB" dirty="0" err="1"/>
              <a:t>dapts</a:t>
            </a:r>
            <a:r>
              <a:rPr lang="en-GB" dirty="0"/>
              <a:t> </a:t>
            </a:r>
            <a:r>
              <a:rPr lang="en-US" altLang="zh-CN" dirty="0"/>
              <a:t>s</a:t>
            </a:r>
            <a:r>
              <a:rPr lang="en-GB" dirty="0" err="1"/>
              <a:t>trategy</a:t>
            </a:r>
            <a:r>
              <a:rPr lang="zh-CN" altLang="en-US" dirty="0"/>
              <a:t> </a:t>
            </a:r>
            <a:r>
              <a:rPr lang="en-US" altLang="zh-CN" dirty="0"/>
              <a:t>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41C366-CCD5-4F2F-AB2F-6DA710C73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50344"/>
            <a:ext cx="10515600" cy="780754"/>
          </a:xfrm>
        </p:spPr>
        <p:txBody>
          <a:bodyPr>
            <a:noAutofit/>
          </a:bodyPr>
          <a:lstStyle/>
          <a:p>
            <a:pPr latinLnBrk="1"/>
            <a:endParaRPr lang="en-GB" sz="2400" dirty="0"/>
          </a:p>
          <a:p>
            <a:pPr latinLnBrk="1"/>
            <a:r>
              <a:rPr lang="en-GB" sz="2400" dirty="0"/>
              <a:t>Project result:</a:t>
            </a:r>
          </a:p>
          <a:p>
            <a:pPr latinLnBrk="1"/>
            <a:r>
              <a:rPr lang="en-GB" sz="2400" dirty="0"/>
              <a:t>Round 1: </a:t>
            </a:r>
            <a:r>
              <a:rPr lang="el-GR" sz="2400" dirty="0"/>
              <a:t>α = 0.2765 → 72% </a:t>
            </a:r>
            <a:r>
              <a:rPr lang="en-GB" sz="2400" dirty="0"/>
              <a:t>Average, 28% Least Misery</a:t>
            </a:r>
          </a:p>
          <a:p>
            <a:pPr latinLnBrk="1"/>
            <a:r>
              <a:rPr lang="en-GB" sz="2400" dirty="0"/>
              <a:t>Round 2: </a:t>
            </a:r>
            <a:r>
              <a:rPr lang="el-GR" sz="2400" dirty="0"/>
              <a:t>α = 0.4216 → 58% </a:t>
            </a:r>
            <a:r>
              <a:rPr lang="en-GB" sz="2400" dirty="0"/>
              <a:t>Average, 42% Least Misery  </a:t>
            </a:r>
          </a:p>
          <a:p>
            <a:pPr latinLnBrk="1"/>
            <a:r>
              <a:rPr lang="en-GB" sz="2400" dirty="0"/>
              <a:t>Round 3: </a:t>
            </a:r>
            <a:r>
              <a:rPr lang="el-GR" sz="2400" dirty="0"/>
              <a:t>α = 0.4415 → 56% </a:t>
            </a:r>
            <a:r>
              <a:rPr lang="en-GB" sz="2400" dirty="0"/>
              <a:t>Average, 44% Least Misery</a:t>
            </a:r>
          </a:p>
          <a:p>
            <a:endParaRPr lang="en-FI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0CE68D-468D-8749-8957-FECFA2BAB5CE}"/>
              </a:ext>
            </a:extLst>
          </p:cNvPr>
          <p:cNvSpPr txBox="1"/>
          <p:nvPr/>
        </p:nvSpPr>
        <p:spPr>
          <a:xfrm>
            <a:off x="838200" y="2255726"/>
            <a:ext cx="107342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GB" sz="2800" dirty="0"/>
              <a:t>Small </a:t>
            </a:r>
            <a:r>
              <a:rPr lang="el-GR" sz="2800" dirty="0"/>
              <a:t>α</a:t>
            </a:r>
            <a:r>
              <a:rPr lang="en-GB" sz="2800" dirty="0"/>
              <a:t>ⱼ (users equally satisfied) → More weight on Average method</a:t>
            </a:r>
          </a:p>
          <a:p>
            <a:pPr latinLnBrk="1"/>
            <a:r>
              <a:rPr lang="en-GB" sz="2800" dirty="0"/>
              <a:t>Large </a:t>
            </a:r>
            <a:r>
              <a:rPr lang="el-GR" sz="2800" dirty="0"/>
              <a:t>α</a:t>
            </a:r>
            <a:r>
              <a:rPr lang="en-GB" sz="2800" dirty="0"/>
              <a:t>ⱼ (satisfaction differences) → More weight on Least Misery</a:t>
            </a:r>
          </a:p>
          <a:p>
            <a:endParaRPr lang="en-FI" sz="2800" dirty="0"/>
          </a:p>
        </p:txBody>
      </p:sp>
    </p:spTree>
    <p:extLst>
      <p:ext uri="{BB962C8B-B14F-4D97-AF65-F5344CB8AC3E}">
        <p14:creationId xmlns:p14="http://schemas.microsoft.com/office/powerpoint/2010/main" val="1931905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CEE60F1-CED5-D549-14AD-69A2CD03C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7C2EF6-3CDD-7125-4222-D07EFCFE3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92" y="194080"/>
            <a:ext cx="11069174" cy="1325563"/>
          </a:xfrm>
        </p:spPr>
        <p:txBody>
          <a:bodyPr>
            <a:normAutofit/>
          </a:bodyPr>
          <a:lstStyle/>
          <a:p>
            <a:pPr latinLnBrk="1"/>
            <a:r>
              <a:rPr lang="en-GB" sz="3600" dirty="0"/>
              <a:t>SQUIRREL Reinforcement Learning Framework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9633D0B-0A88-5BF9-5600-9C647A8D7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2003" y="1179147"/>
            <a:ext cx="4566561" cy="110858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C1A002-FF90-112E-F068-05E653C34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5292" y="5526628"/>
            <a:ext cx="3563391" cy="88331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6D2A3A-863D-576E-F7FA-0E2AA1F38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7036" y="2312971"/>
            <a:ext cx="7171389" cy="31884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2C0049D-8016-91D3-0328-97917EFF1F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8562" y="3429000"/>
            <a:ext cx="1975563" cy="9541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17EA70-3EBF-28D3-8904-26DCF939BB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959" y="3422927"/>
            <a:ext cx="2646077" cy="96018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9341CD9-8851-90B4-975A-310AAFC93F71}"/>
              </a:ext>
            </a:extLst>
          </p:cNvPr>
          <p:cNvSpPr txBox="1"/>
          <p:nvPr/>
        </p:nvSpPr>
        <p:spPr>
          <a:xfrm>
            <a:off x="4526915" y="3778803"/>
            <a:ext cx="38817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latinLnBrk="1"/>
            <a:r>
              <a:rPr lang="en-GB" sz="1400" b="1" dirty="0">
                <a:solidFill>
                  <a:srgbClr val="FF0000"/>
                </a:solidFill>
                <a:highlight>
                  <a:srgbClr val="FFFF00"/>
                </a:highlight>
              </a:rPr>
              <a:t>Learning Cycle:</a:t>
            </a:r>
            <a:r>
              <a:rPr lang="zh-CN" altLang="en-US" sz="1400" b="1" dirty="0">
                <a:solidFill>
                  <a:srgbClr val="FF0000"/>
                </a:solidFill>
                <a:highlight>
                  <a:srgbClr val="FFFF00"/>
                </a:highlight>
              </a:rPr>
              <a:t> </a:t>
            </a:r>
            <a:endParaRPr lang="en-US" altLang="zh-CN" sz="1400" b="1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pPr algn="ctr" latinLnBrk="1"/>
            <a:r>
              <a:rPr lang="en-GB" sz="1400" b="1" dirty="0">
                <a:solidFill>
                  <a:srgbClr val="FF0000"/>
                </a:solidFill>
                <a:highlight>
                  <a:srgbClr val="FFFF00"/>
                </a:highlight>
              </a:rPr>
              <a:t>State → Agent → Actions → New State → Reward</a:t>
            </a:r>
          </a:p>
          <a:p>
            <a:pPr algn="ctr" latinLnBrk="1"/>
            <a:r>
              <a:rPr lang="en-GB" sz="1400" b="1" dirty="0">
                <a:solidFill>
                  <a:srgbClr val="FF0000"/>
                </a:solidFill>
                <a:highlight>
                  <a:srgbClr val="FFFF00"/>
                </a:highlight>
              </a:rPr>
              <a:t>(Continuous adaptation across 3 rounds)</a:t>
            </a:r>
          </a:p>
          <a:p>
            <a:pPr algn="ctr"/>
            <a:endParaRPr lang="en-FI" sz="1400" b="1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149120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044322-EE5F-CA87-696A-CC55F2ADC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0DD20D-3027-3F5A-2447-8C055279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957" y="863716"/>
            <a:ext cx="10515600" cy="1325563"/>
          </a:xfrm>
        </p:spPr>
        <p:txBody>
          <a:bodyPr>
            <a:normAutofit/>
          </a:bodyPr>
          <a:lstStyle/>
          <a:p>
            <a:pPr latinLnBrk="1"/>
            <a:r>
              <a:rPr lang="en-US" sz="4000" dirty="0"/>
              <a:t>Reward changes reveal system intelligence:</a:t>
            </a:r>
            <a:endParaRPr lang="en-GB" sz="4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F7D416-1702-F53F-B43B-F2B405FB4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4247" y="2210734"/>
            <a:ext cx="5939020" cy="168452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3257AA-BE7B-F464-3898-03E5CF10BFA9}"/>
              </a:ext>
            </a:extLst>
          </p:cNvPr>
          <p:cNvSpPr txBox="1"/>
          <p:nvPr/>
        </p:nvSpPr>
        <p:spPr>
          <a:xfrm>
            <a:off x="614597" y="4361748"/>
            <a:ext cx="706036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The temporary drop shows smart balancing, </a:t>
            </a:r>
          </a:p>
          <a:p>
            <a:r>
              <a:rPr lang="en-GB" sz="2400" dirty="0"/>
              <a:t>not system failure</a:t>
            </a:r>
            <a:r>
              <a:rPr lang="en-US" altLang="zh-CN" sz="2400" dirty="0"/>
              <a:t>,</a:t>
            </a:r>
            <a:r>
              <a:rPr lang="zh-CN" altLang="en-US" sz="2400" dirty="0"/>
              <a:t> </a:t>
            </a:r>
            <a:endParaRPr lang="en-US" altLang="zh-CN" sz="2400" dirty="0"/>
          </a:p>
          <a:p>
            <a:r>
              <a:rPr lang="en-GB" sz="2400" dirty="0"/>
              <a:t>keeps all users engaged long-term, </a:t>
            </a:r>
          </a:p>
          <a:p>
            <a:r>
              <a:rPr lang="en-GB" sz="2400" dirty="0"/>
              <a:t>not just maximizes a number.</a:t>
            </a:r>
            <a:endParaRPr lang="en-FI" sz="2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ED273A-3924-FEF0-3BA5-14D82E2BA4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7350" y="3681378"/>
            <a:ext cx="4703520" cy="273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887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293</Words>
  <Application>Microsoft Macintosh PowerPoint</Application>
  <PresentationFormat>Widescreen</PresentationFormat>
  <Paragraphs>46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SDAA Sequential  Group Recommendations</vt:lpstr>
      <vt:lpstr>From Static to Dynamic Group Recommendations</vt:lpstr>
      <vt:lpstr>SDAA Implementation</vt:lpstr>
      <vt:lpstr>How Alpha adapts strategy :</vt:lpstr>
      <vt:lpstr>SQUIRREL Reinforcement Learning Framework</vt:lpstr>
      <vt:lpstr>Reward changes reveal system intelligence: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Xiaosi Huang</dc:creator>
  <cp:lastModifiedBy>Xiaosi Huang</cp:lastModifiedBy>
  <cp:revision>6</cp:revision>
  <dcterms:created xsi:type="dcterms:W3CDTF">2025-11-04T08:51:58Z</dcterms:created>
  <dcterms:modified xsi:type="dcterms:W3CDTF">2025-11-11T17:54:26Z</dcterms:modified>
</cp:coreProperties>
</file>