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28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A1530-BBF0-F94D-A458-1B9B062BF84B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6FA6B-2CB6-414F-9C23-CA78BF04C56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64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6FA6B-2CB6-414F-9C23-CA78BF04C563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331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151-7DD6-5C9E-729A-1C1E0BF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F3E3-9B7B-46EC-7A81-E162F69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239-5CF2-7E8C-1009-736A933E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E6177-1556-C573-9B6A-014F704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E6EC-6A1C-8A61-9094-497C308E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14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A5-2A7E-2337-3DF3-BE7345D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39C7-685F-2BBB-5F0B-32AC67B8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AF33-F6AE-CDC3-3844-B2AECF7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F6A7-E63A-308C-D0E3-154F2EC2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3C74-7E67-4974-6804-8060BA36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07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0BB-23D3-7AA2-9AFB-1AF154F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76CA-4BFB-0721-5283-11C55820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E7A9-1ABA-D2FF-FBFA-6F983E60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8A1A-466A-82FF-EB4A-84750120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F1DF-2806-481F-6CE5-1CAE9FD5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1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FCD-0FBD-C3AE-4D19-16AE3920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1DD4-B3A2-1719-6407-79D9E90B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6BA4-EB5B-851C-F5FF-89DB08AB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2C7E-3711-EEED-A59A-EE54AA79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867A-2DAA-543B-1782-6C1CCD8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8CF6-D06F-047F-E694-72A026C6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FBC-0B0C-1265-C49F-21D6604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C91B-F71C-C686-0C11-A0FD4053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CB0D5-0166-3625-2010-EBFA4DFA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1A29-B398-3A6E-24EF-512AE53D7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4B45-5F75-59A0-5D5B-F0048A999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F5FFB-D8C1-4792-F524-86AECC7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44798-C844-5D44-5E48-306C190F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763AC-163C-DCA0-602D-8EA40444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098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887B-60B6-9862-71EA-3A97B59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DB5A-7E10-7A3F-BB1E-0510D15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0EFD-C447-FF32-6C9C-8DC5B06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086C1-8B2C-868A-5E4D-79744E6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67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FCB75-EC9C-76E7-D93A-AA5B4D98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8BBD-D243-6A0C-1C1E-4C321819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FAC-61EF-2DCA-C326-49DA7D2F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982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42D1-84FE-40F7-C0A8-5CA2580E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55A3-4CAC-2DF6-12A1-DA550C93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B2DE7-A623-6385-DA52-D253DEDB8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7D5D-097A-0DCE-2EA0-0FF87DFA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E7142-B2A6-7C51-064C-D211F48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4260-E9C6-0BBF-2C6F-73C718BD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8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1B61-1E4D-F745-9647-85E4283C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75E0-321A-7FFC-1DE9-6549B7019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5E3C9-FF72-E28D-30B5-734FA09EA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A571-27B8-0962-A546-C8FCECB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D74E-C480-14AA-622B-35AE33B0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CAC5C-19AE-6843-6A87-9FFE5400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785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A60A-3255-CE29-7CB3-4C01DEA1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1556-CC33-06CD-0633-2174E519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E461-8C7F-5336-7FD6-C464D64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3F7-A2E3-0002-3DD3-23C3B6C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02E3-51E2-7DEE-4128-E2D6D1C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51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C67C0-7ED7-3726-525E-16894C859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64C7A-5547-42B2-A6EC-02BDDCA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71F6-B358-0537-EB6F-FE36CA1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9216-DAAF-62E7-43BC-7303F2B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D33-C073-1FB6-C0D4-AAC71F2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3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BB8D7-8003-1964-3E7C-09FFB970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3B9C-3C4F-96E1-A3F2-6ACEA2CF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2C3E-3FE3-B4C0-955A-DE6FC017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C053-EB03-52B6-DC93-4B2BFE02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778-437F-4CCD-C912-15F48354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92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9AD82A-210C-49CE-87BC-DDB42C620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698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AC650-DDE8-B0D7-77F5-AAC72A53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956" y="744072"/>
            <a:ext cx="10908088" cy="1001712"/>
          </a:xfrm>
        </p:spPr>
        <p:txBody>
          <a:bodyPr>
            <a:normAutofit/>
          </a:bodyPr>
          <a:lstStyle/>
          <a:p>
            <a:pPr algn="l"/>
            <a:r>
              <a:rPr lang="en-GB" sz="4400" dirty="0"/>
              <a:t>SDAA Sequential Group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74C2-4B12-E370-7C2F-725D3A2CA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70" y="3898064"/>
            <a:ext cx="7481452" cy="1655762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GB" sz="2000" dirty="0"/>
              <a:t>Students: Oskari </a:t>
            </a:r>
            <a:r>
              <a:rPr lang="en-GB" sz="2000" dirty="0" err="1"/>
              <a:t>Perikangas</a:t>
            </a:r>
            <a:r>
              <a:rPr lang="en-US" sz="2000" dirty="0"/>
              <a:t>,</a:t>
            </a:r>
            <a:r>
              <a:rPr lang="en-GB" sz="2000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Course: DATA.ML.360-2025-2026-1 Recommender Systems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Date: November 10, 2025</a:t>
            </a:r>
            <a:endParaRPr lang="en-FI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4213C-E423-4691-0541-A6F51D587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322" y="2900167"/>
            <a:ext cx="3284453" cy="3083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9EBB0B-067B-107C-113E-E5BB20EC345F}"/>
              </a:ext>
            </a:extLst>
          </p:cNvPr>
          <p:cNvSpPr txBox="1"/>
          <p:nvPr/>
        </p:nvSpPr>
        <p:spPr>
          <a:xfrm>
            <a:off x="641956" y="1852527"/>
            <a:ext cx="7146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Satisfaction and Disagreement Aware Aggregation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83153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31B7A-A3E7-BA38-8BCA-D0EC8DA1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AF06F-79AC-466E-33D7-87A9B86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322104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From Static to Dynamic Group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48816-206B-D873-43ED-4A206E5EE9F4}"/>
              </a:ext>
            </a:extLst>
          </p:cNvPr>
          <p:cNvSpPr txBox="1"/>
          <p:nvPr/>
        </p:nvSpPr>
        <p:spPr>
          <a:xfrm>
            <a:off x="795726" y="1452570"/>
            <a:ext cx="96512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sz="2000" dirty="0"/>
              <a:t>The Limitations of</a:t>
            </a:r>
            <a:r>
              <a:rPr lang="zh-CN" altLang="en-US" sz="2000" dirty="0"/>
              <a:t> </a:t>
            </a:r>
            <a:r>
              <a:rPr lang="en-GB" sz="2000" dirty="0"/>
              <a:t>User-Based Collaborative Filtering and Group Recommendations</a:t>
            </a:r>
          </a:p>
          <a:p>
            <a:pPr latinLnBrk="1"/>
            <a:endParaRPr lang="en-GB" sz="2000" dirty="0"/>
          </a:p>
          <a:p>
            <a:pPr latinLnBrk="1"/>
            <a:r>
              <a:rPr lang="en-GB" b="1" dirty="0"/>
              <a:t>Example</a:t>
            </a:r>
            <a:r>
              <a:rPr lang="en-GB" dirty="0"/>
              <a:t>: Movie 1276 predictions</a:t>
            </a:r>
          </a:p>
          <a:p>
            <a:pPr latinLnBrk="1"/>
            <a:r>
              <a:rPr lang="en-GB" dirty="0"/>
              <a:t>• System predicts User 1 would rate it: </a:t>
            </a:r>
            <a:r>
              <a:rPr lang="en-GB" dirty="0">
                <a:solidFill>
                  <a:srgbClr val="FF0000"/>
                </a:solidFill>
              </a:rPr>
              <a:t>5.00</a:t>
            </a:r>
          </a:p>
          <a:p>
            <a:pPr latinLnBrk="1"/>
            <a:r>
              <a:rPr lang="en-GB" dirty="0"/>
              <a:t>• System predicts User 2 would rate it: </a:t>
            </a:r>
            <a:r>
              <a:rPr lang="en-GB" dirty="0">
                <a:solidFill>
                  <a:srgbClr val="FF0000"/>
                </a:solidFill>
              </a:rPr>
              <a:t>3.76</a:t>
            </a:r>
          </a:p>
          <a:p>
            <a:pPr latinLnBrk="1"/>
            <a:r>
              <a:rPr lang="en-GB" dirty="0"/>
              <a:t>• D</a:t>
            </a:r>
            <a:r>
              <a:rPr lang="en-GB" sz="2000" dirty="0"/>
              <a:t>isagreement : </a:t>
            </a:r>
            <a:r>
              <a:rPr lang="en-GB" sz="2000" dirty="0">
                <a:solidFill>
                  <a:srgbClr val="FF0000"/>
                </a:solidFill>
              </a:rPr>
              <a:t>1.24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74BC2-7A1A-CEEB-C0B0-5AA9A8B36211}"/>
              </a:ext>
            </a:extLst>
          </p:cNvPr>
          <p:cNvSpPr txBox="1"/>
          <p:nvPr/>
        </p:nvSpPr>
        <p:spPr>
          <a:xfrm>
            <a:off x="795726" y="3558772"/>
            <a:ext cx="934268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b="1" dirty="0"/>
              <a:t>Challenges:</a:t>
            </a:r>
          </a:p>
          <a:p>
            <a:pPr latinLnBrk="1"/>
            <a:r>
              <a:rPr lang="en-GB" dirty="0"/>
              <a:t>• Average method and Least misery methods don't learn from previous recommendations</a:t>
            </a:r>
          </a:p>
          <a:p>
            <a:pPr latinLnBrk="1"/>
            <a:r>
              <a:rPr lang="en-GB" dirty="0"/>
              <a:t>• Some users stay unhappy over multiple rounds</a:t>
            </a:r>
          </a:p>
          <a:p>
            <a:pPr latinLnBrk="1"/>
            <a:r>
              <a:rPr lang="en-GB" dirty="0"/>
              <a:t>• No adaptation to group dynamics</a:t>
            </a:r>
          </a:p>
          <a:p>
            <a:pPr latinLnBrk="1"/>
            <a:endParaRPr lang="en-GB" dirty="0"/>
          </a:p>
          <a:p>
            <a:pPr latinLnBrk="1"/>
            <a:r>
              <a:rPr lang="en-GB" b="1" dirty="0"/>
              <a:t>Solution: </a:t>
            </a:r>
            <a:r>
              <a:rPr lang="en-GB" dirty="0"/>
              <a:t>SDAA framework</a:t>
            </a:r>
          </a:p>
          <a:p>
            <a:pPr latinLnBrk="1"/>
            <a:r>
              <a:rPr lang="en-GB" dirty="0"/>
              <a:t>• Recommends movies over multiple rounds</a:t>
            </a:r>
          </a:p>
          <a:p>
            <a:pPr latinLnBrk="1"/>
            <a:r>
              <a:rPr lang="en-GB" dirty="0"/>
              <a:t>• Adjusts strategy based on user satisfaction</a:t>
            </a:r>
          </a:p>
          <a:p>
            <a:pPr latinLnBrk="1"/>
            <a:r>
              <a:rPr lang="en-GB" dirty="0"/>
              <a:t>• Balances group happiness and individual fairness</a:t>
            </a:r>
          </a:p>
          <a:p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294006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69D9AC-A98A-B47C-F2C6-695074DDD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7071F1-D21F-9B52-3D70-5285F7B1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29" y="582353"/>
            <a:ext cx="10515600" cy="1325563"/>
          </a:xfrm>
        </p:spPr>
        <p:txBody>
          <a:bodyPr>
            <a:normAutofit/>
          </a:bodyPr>
          <a:lstStyle/>
          <a:p>
            <a:pPr latinLnBrk="1"/>
            <a:r>
              <a:rPr lang="en-GB" sz="3600" dirty="0"/>
              <a:t>SDAA Implementation</a:t>
            </a:r>
            <a:endParaRPr lang="en-GB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AA45A0-010C-4811-F3D9-1C03FC7B2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74" y="4844207"/>
            <a:ext cx="6851892" cy="105607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314834-107A-67CC-E5D3-8C210DD9D9AD}"/>
              </a:ext>
            </a:extLst>
          </p:cNvPr>
          <p:cNvSpPr txBox="1">
            <a:spLocks/>
          </p:cNvSpPr>
          <p:nvPr/>
        </p:nvSpPr>
        <p:spPr>
          <a:xfrm>
            <a:off x="597698" y="1630858"/>
            <a:ext cx="11259522" cy="498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1st </a:t>
            </a:r>
            <a:r>
              <a:rPr lang="en-GB" sz="2400" dirty="0"/>
              <a:t>satisfaction scores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GB" sz="2400" dirty="0"/>
              <a:t>Decides which movies to recommend to the group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latinLnBrk="1">
              <a:buNone/>
            </a:pPr>
            <a:r>
              <a:rPr lang="en-US" sz="2400" dirty="0"/>
              <a:t>2nd </a:t>
            </a:r>
            <a:r>
              <a:rPr lang="en-GB" sz="2400" dirty="0"/>
              <a:t>Alpha Adaptation 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GB" sz="2400" dirty="0"/>
              <a:t>Measures how unfair the previous round was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latinLnBrk="1">
              <a:buNone/>
            </a:pPr>
            <a:r>
              <a:rPr lang="en-GB" sz="2400" dirty="0"/>
              <a:t>3rd Reward Evaluation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GB" sz="2400" dirty="0"/>
              <a:t>Balances group satisfaction and fairness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FI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6A2666-D701-9BE5-B950-CC1F9BE4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73" y="2184975"/>
            <a:ext cx="7772400" cy="4667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DC0F78-2487-0B8D-A31B-30381CF31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474" y="3432696"/>
            <a:ext cx="7139066" cy="6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604309-E3D9-902A-373A-98D45C7A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38FE6-37EF-5475-5C94-B987CB80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828"/>
            <a:ext cx="10515600" cy="1325563"/>
          </a:xfrm>
        </p:spPr>
        <p:txBody>
          <a:bodyPr/>
          <a:lstStyle/>
          <a:p>
            <a:pPr latinLnBrk="1"/>
            <a:r>
              <a:rPr lang="en-GB" dirty="0"/>
              <a:t>How Alpha </a:t>
            </a:r>
            <a:r>
              <a:rPr lang="en-US" altLang="zh-CN" dirty="0"/>
              <a:t>a</a:t>
            </a:r>
            <a:r>
              <a:rPr lang="en-GB" dirty="0" err="1"/>
              <a:t>dapts</a:t>
            </a:r>
            <a:r>
              <a:rPr lang="en-GB" dirty="0"/>
              <a:t> </a:t>
            </a:r>
            <a:r>
              <a:rPr lang="en-US" altLang="zh-CN" dirty="0"/>
              <a:t>s</a:t>
            </a:r>
            <a:r>
              <a:rPr lang="en-GB" dirty="0" err="1"/>
              <a:t>trategy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C366-CCD5-4F2F-AB2F-6DA710C7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50344"/>
            <a:ext cx="10515600" cy="780754"/>
          </a:xfrm>
        </p:spPr>
        <p:txBody>
          <a:bodyPr>
            <a:noAutofit/>
          </a:bodyPr>
          <a:lstStyle/>
          <a:p>
            <a:pPr latinLnBrk="1"/>
            <a:endParaRPr lang="en-GB" sz="2400" dirty="0"/>
          </a:p>
          <a:p>
            <a:pPr latinLnBrk="1"/>
            <a:r>
              <a:rPr lang="en-GB" sz="2400" dirty="0"/>
              <a:t>Project result:</a:t>
            </a:r>
          </a:p>
          <a:p>
            <a:pPr latinLnBrk="1"/>
            <a:r>
              <a:rPr lang="en-GB" sz="2400" dirty="0"/>
              <a:t>Round 1: </a:t>
            </a:r>
            <a:r>
              <a:rPr lang="el-GR" sz="2400" dirty="0"/>
              <a:t>α = 0.2765 → 72% </a:t>
            </a:r>
            <a:r>
              <a:rPr lang="en-GB" sz="2400" dirty="0"/>
              <a:t>Average, 28% Least Misery</a:t>
            </a:r>
          </a:p>
          <a:p>
            <a:pPr latinLnBrk="1"/>
            <a:r>
              <a:rPr lang="en-GB" sz="2400" dirty="0"/>
              <a:t>Round 2: </a:t>
            </a:r>
            <a:r>
              <a:rPr lang="el-GR" sz="2400" dirty="0"/>
              <a:t>α = 0.4216 → 58% </a:t>
            </a:r>
            <a:r>
              <a:rPr lang="en-GB" sz="2400" dirty="0"/>
              <a:t>Average, 42% Least Misery  </a:t>
            </a:r>
          </a:p>
          <a:p>
            <a:pPr latinLnBrk="1"/>
            <a:r>
              <a:rPr lang="en-GB" sz="2400" dirty="0"/>
              <a:t>Round 3: </a:t>
            </a:r>
            <a:r>
              <a:rPr lang="el-GR" sz="2400" dirty="0"/>
              <a:t>α = 0.4415 → 56% </a:t>
            </a:r>
            <a:r>
              <a:rPr lang="en-GB" sz="2400" dirty="0"/>
              <a:t>Average, 44% Least Misery</a:t>
            </a:r>
          </a:p>
          <a:p>
            <a:endParaRPr lang="en-FI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CE68D-468D-8749-8957-FECFA2BAB5CE}"/>
              </a:ext>
            </a:extLst>
          </p:cNvPr>
          <p:cNvSpPr txBox="1"/>
          <p:nvPr/>
        </p:nvSpPr>
        <p:spPr>
          <a:xfrm>
            <a:off x="838200" y="2255726"/>
            <a:ext cx="107342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sz="2800" dirty="0"/>
              <a:t>Small </a:t>
            </a:r>
            <a:r>
              <a:rPr lang="el-GR" sz="2800" dirty="0"/>
              <a:t>α</a:t>
            </a:r>
            <a:r>
              <a:rPr lang="en-GB" sz="2800" dirty="0"/>
              <a:t>ⱼ (users equally satisfied) → More weight on Average method</a:t>
            </a:r>
          </a:p>
          <a:p>
            <a:pPr latinLnBrk="1"/>
            <a:r>
              <a:rPr lang="en-GB" sz="2800" dirty="0"/>
              <a:t>Large </a:t>
            </a:r>
            <a:r>
              <a:rPr lang="el-GR" sz="2800" dirty="0"/>
              <a:t>α</a:t>
            </a:r>
            <a:r>
              <a:rPr lang="en-GB" sz="2800" dirty="0"/>
              <a:t>ⱼ (satisfaction differences) → More weight on Least Misery</a:t>
            </a:r>
          </a:p>
          <a:p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193190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EE60F1-CED5-D549-14AD-69A2CD03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7C2EF6-3CDD-7125-4222-D07EFCFE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92" y="194080"/>
            <a:ext cx="11069174" cy="1325563"/>
          </a:xfrm>
        </p:spPr>
        <p:txBody>
          <a:bodyPr>
            <a:normAutofit/>
          </a:bodyPr>
          <a:lstStyle/>
          <a:p>
            <a:pPr latinLnBrk="1"/>
            <a:r>
              <a:rPr lang="en-GB" sz="3600" dirty="0"/>
              <a:t>SQUIRREL Reinforcement Learning Framework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633D0B-0A88-5BF9-5600-9C647A8D7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003" y="1179147"/>
            <a:ext cx="4566561" cy="11085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C1A002-FF90-112E-F068-05E653C34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92" y="5526628"/>
            <a:ext cx="3563391" cy="883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6D2A3A-863D-576E-F7FA-0E2AA1F38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036" y="2312971"/>
            <a:ext cx="7171389" cy="3188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C0049D-8016-91D3-0328-97917EFF1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8562" y="3429000"/>
            <a:ext cx="1975563" cy="954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17EA70-3EBF-28D3-8904-26DCF939BB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59" y="3422927"/>
            <a:ext cx="2646077" cy="9601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9341CD9-8851-90B4-975A-310AAFC93F71}"/>
              </a:ext>
            </a:extLst>
          </p:cNvPr>
          <p:cNvSpPr txBox="1"/>
          <p:nvPr/>
        </p:nvSpPr>
        <p:spPr>
          <a:xfrm>
            <a:off x="4526915" y="3778803"/>
            <a:ext cx="38817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GB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Learning Cycle: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n-US" altLang="zh-CN" sz="1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algn="ctr" latinLnBrk="1"/>
            <a:r>
              <a:rPr lang="en-GB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State → Agent → Actions → New State → Reward</a:t>
            </a:r>
          </a:p>
          <a:p>
            <a:pPr algn="ctr" latinLnBrk="1"/>
            <a:r>
              <a:rPr lang="en-GB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(Continuous adaptation across 3 rounds)</a:t>
            </a:r>
          </a:p>
          <a:p>
            <a:pPr algn="ctr"/>
            <a:endParaRPr lang="en-FI" sz="1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4912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044322-EE5F-CA87-696A-CC55F2ADC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DD20D-3027-3F5A-2447-8C055279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57" y="863716"/>
            <a:ext cx="10515600" cy="1325563"/>
          </a:xfrm>
        </p:spPr>
        <p:txBody>
          <a:bodyPr>
            <a:normAutofit/>
          </a:bodyPr>
          <a:lstStyle/>
          <a:p>
            <a:pPr latinLnBrk="1"/>
            <a:r>
              <a:rPr lang="en-US" sz="4000" dirty="0"/>
              <a:t>Reward changes reveal system intelligence:</a:t>
            </a:r>
            <a:endParaRPr lang="en-GB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F7D416-1702-F53F-B43B-F2B405FB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247" y="2210734"/>
            <a:ext cx="5939020" cy="16845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3257AA-BE7B-F464-3898-03E5CF10BFA9}"/>
              </a:ext>
            </a:extLst>
          </p:cNvPr>
          <p:cNvSpPr txBox="1"/>
          <p:nvPr/>
        </p:nvSpPr>
        <p:spPr>
          <a:xfrm>
            <a:off x="614597" y="4361748"/>
            <a:ext cx="7060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temporary drop shows smart balancing, </a:t>
            </a:r>
          </a:p>
          <a:p>
            <a:r>
              <a:rPr lang="en-GB" sz="2400" dirty="0"/>
              <a:t>not system failure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en-GB" sz="2400" dirty="0"/>
              <a:t>keeps all users engaged long-term, </a:t>
            </a:r>
          </a:p>
          <a:p>
            <a:r>
              <a:rPr lang="en-GB" sz="2400" dirty="0"/>
              <a:t>not just maximizes a number.</a:t>
            </a:r>
            <a:endParaRPr lang="en-FI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ED273A-3924-FEF0-3BA5-14D82E2BA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350" y="3681378"/>
            <a:ext cx="4703520" cy="27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297</Words>
  <Application>Microsoft Macintosh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SDAA Sequential Group Recommendations</vt:lpstr>
      <vt:lpstr>From Static to Dynamic Group Recommendations</vt:lpstr>
      <vt:lpstr>SDAA Implementation</vt:lpstr>
      <vt:lpstr>How Alpha adapts strategy :</vt:lpstr>
      <vt:lpstr>SQUIRREL Reinforcement Learning Framework</vt:lpstr>
      <vt:lpstr>Reward changes reveal system intelligence: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7</cp:revision>
  <dcterms:created xsi:type="dcterms:W3CDTF">2025-11-04T08:51:58Z</dcterms:created>
  <dcterms:modified xsi:type="dcterms:W3CDTF">2025-11-11T18:08:22Z</dcterms:modified>
</cp:coreProperties>
</file>