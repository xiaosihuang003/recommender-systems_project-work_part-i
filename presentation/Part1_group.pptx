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35"/>
  </p:normalViewPr>
  <p:slideViewPr>
    <p:cSldViewPr snapToGrid="0">
      <p:cViewPr varScale="1">
        <p:scale>
          <a:sx n="120" d="100"/>
          <a:sy n="120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151-7DD6-5C9E-729A-1C1E0BFF5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6F3E3-9B7B-46EC-7A81-E162F69CA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0B239-5CF2-7E8C-1009-736A933E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E6177-1556-C573-9B6A-014F704E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E6EC-6A1C-8A61-9094-497C308E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14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DA5-2A7E-2337-3DF3-BE7345DD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39C7-685F-2BBB-5F0B-32AC67B8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8AF33-F6AE-CDC3-3844-B2AECF7C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DF6A7-E63A-308C-D0E3-154F2EC2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3C74-7E67-4974-6804-8060BA36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607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0BB-23D3-7AA2-9AFB-1AF154FE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76CA-4BFB-0721-5283-11C558204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E7A9-1ABA-D2FF-FBFA-6F983E60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B8A1A-466A-82FF-EB4A-84750120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EF1DF-2806-481F-6CE5-1CAE9FD5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144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CFCD-0FBD-C3AE-4D19-16AE3920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1DD4-B3A2-1719-6407-79D9E90B2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86BA4-EB5B-851C-F5FF-89DB08AB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A2C7E-3711-EEED-A59A-EE54AA79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4867A-2DAA-543B-1782-6C1CCD8C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D8CF6-D06F-047F-E694-72A026C6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34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3FBC-0B0C-1265-C49F-21D6604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2C91B-F71C-C686-0C11-A0FD40537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CB0D5-0166-3625-2010-EBFA4DFA7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1A29-B398-3A6E-24EF-512AE53D7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C4B45-5F75-59A0-5D5B-F0048A999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F5FFB-D8C1-4792-F524-86AECC77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44798-C844-5D44-5E48-306C190F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763AC-163C-DCA0-602D-8EA40444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098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887B-60B6-9862-71EA-3A97B596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DDB5A-7E10-7A3F-BB1E-0510D15D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50EFD-C447-FF32-6C9C-8DC5B06C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086C1-8B2C-868A-5E4D-79744E66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5676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FCB75-EC9C-76E7-D93A-AA5B4D98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58BBD-D243-6A0C-1C1E-4C321819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FAC-61EF-2DCA-C326-49DA7D2F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0982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42D1-84FE-40F7-C0A8-5CA2580E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55A3-4CAC-2DF6-12A1-DA550C93B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B2DE7-A623-6385-DA52-D253DEDB8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7D5D-097A-0DCE-2EA0-0FF87DFA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E7142-B2A6-7C51-064C-D211F483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4260-E9C6-0BBF-2C6F-73C718BD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889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1B61-1E4D-F745-9647-85E4283C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75E0-321A-7FFC-1DE9-6549B7019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5E3C9-FF72-E28D-30B5-734FA09EA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A571-27B8-0962-A546-C8FCECBF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CD74E-C480-14AA-622B-35AE33B0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CAC5C-19AE-6843-6A87-9FFE5400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785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A60A-3255-CE29-7CB3-4C01DEA1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D1556-CC33-06CD-0633-2174E519D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3E461-8C7F-5336-7FD6-C464D642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93F7-A2E3-0002-3DD3-23C3B6C9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02E3-51E2-7DEE-4128-E2D6D1C5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7518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C67C0-7ED7-3726-525E-16894C859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64C7A-5547-42B2-A6EC-02BDDCA3B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F71F6-B358-0537-EB6F-FE36CA13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99216-DAAF-62E7-43BC-7303F2BE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1D33-C073-1FB6-C0D4-AAC71F2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3323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BB8D7-8003-1964-3E7C-09FFB970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73B9C-3C4F-96E1-A3F2-6ACEA2CF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E2C3E-3FE3-B4C0-955A-DE6FC017C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18288-B85B-2D44-B86D-F3A0FAFA3DFF}" type="datetimeFigureOut">
              <a:rPr lang="en-FI" smtClean="0"/>
              <a:t>5.11.2025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2C053-EB03-52B6-DC93-4B2BFE02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5778-437F-4CCD-C912-15F48354E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92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C9E995-5E0D-3011-E433-B416C05C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753" y="0"/>
            <a:ext cx="12317506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AC650-DDE8-B0D7-77F5-AAC72A537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0692"/>
            <a:ext cx="9144000" cy="2387600"/>
          </a:xfrm>
        </p:spPr>
        <p:txBody>
          <a:bodyPr>
            <a:normAutofit/>
          </a:bodyPr>
          <a:lstStyle/>
          <a:p>
            <a:r>
              <a:rPr lang="en-GB" sz="4400" dirty="0"/>
              <a:t>User-Based Collaborative Filtering </a:t>
            </a:r>
            <a:br>
              <a:rPr lang="en-GB" sz="4400" dirty="0"/>
            </a:br>
            <a:r>
              <a:rPr lang="en-GB" sz="4400" dirty="0"/>
              <a:t>for Group Recommendations</a:t>
            </a:r>
            <a:endParaRPr lang="en-FI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F74C2-4B12-E370-7C2F-725D3A2CA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r>
              <a:rPr lang="en-GB" dirty="0"/>
              <a:t>Students: Oskari </a:t>
            </a:r>
            <a:r>
              <a:rPr lang="en-GB" dirty="0" err="1"/>
              <a:t>Perikangas</a:t>
            </a:r>
            <a:r>
              <a:rPr lang="en-US" dirty="0"/>
              <a:t>,</a:t>
            </a:r>
            <a:r>
              <a:rPr lang="en-GB" dirty="0"/>
              <a:t> Xiaosi Huang</a:t>
            </a:r>
          </a:p>
          <a:p>
            <a:pPr marL="342900" indent="-342900" algn="l">
              <a:buFontTx/>
              <a:buChar char="-"/>
            </a:pPr>
            <a:r>
              <a:rPr lang="en-GB" dirty="0"/>
              <a:t>Course: DATA.ML.360-2025-2026-1 Recommender Systems</a:t>
            </a:r>
          </a:p>
          <a:p>
            <a:pPr marL="342900" indent="-342900" algn="l">
              <a:buFontTx/>
              <a:buChar char="-"/>
            </a:pPr>
            <a:r>
              <a:rPr lang="en-GB" dirty="0"/>
              <a:t>Date: November 4, 2025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83153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F06F-79AC-466E-33D7-87A9B86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127007"/>
            <a:ext cx="10515600" cy="1325563"/>
          </a:xfrm>
        </p:spPr>
        <p:txBody>
          <a:bodyPr/>
          <a:lstStyle/>
          <a:p>
            <a:r>
              <a:rPr lang="en-GB" dirty="0"/>
              <a:t>Dataset &amp; Challenges Identified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CAF4-9F23-7608-5307-0C3556E16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25" y="1880648"/>
            <a:ext cx="5611092" cy="2760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93188A-DA61-BD48-2C62-9F01A453B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7943"/>
            <a:ext cx="5611092" cy="2752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948816-206B-D873-43ED-4A206E5EE9F4}"/>
              </a:ext>
            </a:extLst>
          </p:cNvPr>
          <p:cNvSpPr txBox="1"/>
          <p:nvPr/>
        </p:nvSpPr>
        <p:spPr>
          <a:xfrm>
            <a:off x="429966" y="1144793"/>
            <a:ext cx="11519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MovieLens 100K</a:t>
            </a:r>
            <a:r>
              <a:rPr lang="zh-CN" altLang="en-US" dirty="0"/>
              <a:t> </a:t>
            </a:r>
            <a:r>
              <a:rPr lang="en-GB" dirty="0"/>
              <a:t>- 100836 ratings from 610 users  – </a:t>
            </a:r>
            <a:r>
              <a:rPr lang="en-US" dirty="0"/>
              <a:t>Containing </a:t>
            </a:r>
            <a:r>
              <a:rPr lang="en-GB" dirty="0"/>
              <a:t>9724 different movies - Ratings on a 0.5 to 5 star 🌟 </a:t>
            </a:r>
            <a:endParaRPr lang="en-FI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BBFB32-E2F6-7CEE-D791-5E7E91826297}"/>
              </a:ext>
            </a:extLst>
          </p:cNvPr>
          <p:cNvSpPr txBox="1"/>
          <p:nvPr/>
        </p:nvSpPr>
        <p:spPr>
          <a:xfrm>
            <a:off x="291074" y="4406177"/>
            <a:ext cx="58464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b="1" dirty="0"/>
              <a:t>Challenge 1: Rating Bias</a:t>
            </a:r>
          </a:p>
          <a:p>
            <a:r>
              <a:rPr lang="en-GB" sz="1600" dirty="0"/>
              <a:t>The average is 3.50, more high ratings than low ratings.</a:t>
            </a:r>
          </a:p>
          <a:p>
            <a:r>
              <a:rPr lang="en-GB" sz="1600" dirty="0"/>
              <a:t>Most ratings cluster at 4 and 5 stars. </a:t>
            </a:r>
          </a:p>
          <a:p>
            <a:r>
              <a:rPr lang="en-GB" sz="1600" dirty="0"/>
              <a:t>Users tend to rate movies they </a:t>
            </a:r>
            <a:r>
              <a:rPr lang="en-GB" sz="1400" dirty="0"/>
              <a:t>LIKE</a:t>
            </a:r>
            <a:r>
              <a:rPr lang="en-GB" sz="1600" dirty="0"/>
              <a:t> and skip movies they </a:t>
            </a:r>
            <a:r>
              <a:rPr lang="en-GB" sz="1400" dirty="0"/>
              <a:t>DISLIKE</a:t>
            </a:r>
            <a:r>
              <a:rPr lang="en-GB" sz="1600" dirty="0"/>
              <a:t>.</a:t>
            </a:r>
          </a:p>
          <a:p>
            <a:r>
              <a:rPr lang="en-GB" sz="1600" dirty="0"/>
              <a:t>The data is skewed, it doesn't represent the true quality.  </a:t>
            </a:r>
          </a:p>
          <a:p>
            <a:r>
              <a:rPr lang="en-GB" sz="1600" dirty="0"/>
              <a:t>This bias affects the recommendation predictions</a:t>
            </a:r>
            <a:endParaRPr lang="en-FI" sz="1600" dirty="0"/>
          </a:p>
          <a:p>
            <a:endParaRPr lang="en-FI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74BC2-7A1A-CEEB-C0B0-5AA9A8B36211}"/>
              </a:ext>
            </a:extLst>
          </p:cNvPr>
          <p:cNvSpPr txBox="1"/>
          <p:nvPr/>
        </p:nvSpPr>
        <p:spPr>
          <a:xfrm>
            <a:off x="6053526" y="4406177"/>
            <a:ext cx="6297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b="1" dirty="0"/>
              <a:t>Challenge 2: Data Sparsity </a:t>
            </a:r>
          </a:p>
          <a:p>
            <a:r>
              <a:rPr lang="en-GB" sz="1600" dirty="0"/>
              <a:t>Almost 10,000 movies in total, more users only rate 100-200 movies. </a:t>
            </a:r>
          </a:p>
          <a:p>
            <a:r>
              <a:rPr lang="en-GB" sz="1600" dirty="0"/>
              <a:t>There are 4744 out of 9724 (48.8%) have 2 or fewer ratings.</a:t>
            </a:r>
          </a:p>
          <a:p>
            <a:r>
              <a:rPr lang="en-GB" sz="1600" dirty="0"/>
              <a:t>Data Sparsity makes collaborative filtering very difficult.</a:t>
            </a:r>
          </a:p>
          <a:p>
            <a:r>
              <a:rPr lang="en-GB" sz="1600" dirty="0"/>
              <a:t> Users don't overlap enough to find reliable similarities.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294006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71F1-D21F-9B52-3D70-5285F7B1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49" y="190405"/>
            <a:ext cx="10515600" cy="1325563"/>
          </a:xfrm>
        </p:spPr>
        <p:txBody>
          <a:bodyPr/>
          <a:lstStyle/>
          <a:p>
            <a:r>
              <a:rPr lang="en-GB" dirty="0"/>
              <a:t>Finding Similar Users &amp; Predicting Ratings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C7FA0-64AE-A08C-597F-858DC97FC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92" y="1661758"/>
            <a:ext cx="11171830" cy="1741440"/>
          </a:xfrm>
        </p:spPr>
        <p:txBody>
          <a:bodyPr>
            <a:normAutofit/>
          </a:bodyPr>
          <a:lstStyle/>
          <a:p>
            <a:r>
              <a:rPr lang="en-GB" sz="2000" b="1" dirty="0"/>
              <a:t>Similarity Formula</a:t>
            </a:r>
            <a:r>
              <a:rPr lang="en-GB" sz="2000" dirty="0"/>
              <a:t> (Pearson Correlation):</a:t>
            </a:r>
            <a:r>
              <a:rPr lang="zh-CN" altLang="en-US" sz="2000" dirty="0"/>
              <a:t>             </a:t>
            </a:r>
            <a:r>
              <a:rPr lang="en-GB" sz="2000" b="1" dirty="0"/>
              <a:t>Prediction Formula</a:t>
            </a:r>
            <a:r>
              <a:rPr lang="en-GB" sz="2000" dirty="0"/>
              <a:t> (from class slides):</a:t>
            </a:r>
            <a:endParaRPr lang="en-FI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06504-9833-1926-DBF9-052CDF147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49" y="2361063"/>
            <a:ext cx="4825851" cy="928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CDA0C-DDA8-28FA-59FC-0035BB44F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706" y="2235793"/>
            <a:ext cx="5179544" cy="991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E6658F-44E5-E071-D846-D5912608B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9" y="3403198"/>
            <a:ext cx="4253301" cy="3038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F164A-D903-8BA5-52EB-FC9061D28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807" y="3238959"/>
            <a:ext cx="4117934" cy="34181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6D84A9-520C-3B6B-266C-2197BD69A8EE}"/>
              </a:ext>
            </a:extLst>
          </p:cNvPr>
          <p:cNvSpPr txBox="1"/>
          <p:nvPr/>
        </p:nvSpPr>
        <p:spPr>
          <a:xfrm>
            <a:off x="672649" y="1235383"/>
            <a:ext cx="3209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⭐️</a:t>
            </a:r>
            <a:r>
              <a:rPr lang="zh-CN" altLang="en-US" dirty="0"/>
              <a:t> </a:t>
            </a:r>
            <a:r>
              <a:rPr lang="en-FI" dirty="0"/>
              <a:t>Taking </a:t>
            </a:r>
            <a:r>
              <a:rPr lang="en-FI" b="1" dirty="0"/>
              <a:t>user 1 </a:t>
            </a:r>
            <a:r>
              <a:rPr lang="en-FI" dirty="0"/>
              <a:t>as an example</a:t>
            </a:r>
          </a:p>
        </p:txBody>
      </p:sp>
    </p:spTree>
    <p:extLst>
      <p:ext uri="{BB962C8B-B14F-4D97-AF65-F5344CB8AC3E}">
        <p14:creationId xmlns:p14="http://schemas.microsoft.com/office/powerpoint/2010/main" val="4771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8FE6-37EF-5475-5C94-B987CB80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163"/>
            <a:ext cx="10515600" cy="1325563"/>
          </a:xfrm>
        </p:spPr>
        <p:txBody>
          <a:bodyPr/>
          <a:lstStyle/>
          <a:p>
            <a:r>
              <a:rPr lang="en-GB" dirty="0"/>
              <a:t>Enhanced Pearson Similarity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1C366-CCD5-4F2F-AB2F-6DA710C7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067"/>
            <a:ext cx="10515600" cy="7807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Question: If User 476 has rated 11 movies in common with User 1, and User 297 has rated 17 movies in common, who should we trust MORE? </a:t>
            </a:r>
            <a:endParaRPr lang="en-FI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D8244-CB35-B651-FA3A-DF8316A0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6821"/>
            <a:ext cx="6924487" cy="19012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D6B863-A95F-1FD8-B36F-831DD65C5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63" y="3948053"/>
            <a:ext cx="5579070" cy="1000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C11FCF-AF25-42F9-523A-E204C6CDD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48438"/>
            <a:ext cx="5124380" cy="1697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0CE68D-468D-8749-8957-FECFA2BAB5CE}"/>
              </a:ext>
            </a:extLst>
          </p:cNvPr>
          <p:cNvSpPr txBox="1"/>
          <p:nvPr/>
        </p:nvSpPr>
        <p:spPr>
          <a:xfrm>
            <a:off x="7762687" y="3783151"/>
            <a:ext cx="39469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Reward users with MORE data overlap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 ( User 297) :</a:t>
            </a:r>
          </a:p>
          <a:p>
            <a:r>
              <a:rPr lang="en-GB" dirty="0"/>
              <a:t>For every extra movie beyond 10, </a:t>
            </a:r>
          </a:p>
          <a:p>
            <a:r>
              <a:rPr lang="en-GB" dirty="0"/>
              <a:t>we add 0.02 to the similarity score.</a:t>
            </a:r>
          </a:p>
          <a:p>
            <a:endParaRPr lang="en-GB" dirty="0"/>
          </a:p>
          <a:p>
            <a:r>
              <a:rPr lang="en-GB" dirty="0"/>
              <a:t>If User 297 has 17 common movies: </a:t>
            </a:r>
          </a:p>
          <a:p>
            <a:r>
              <a:rPr lang="en-GB" dirty="0"/>
              <a:t>17 minus 10 equals 7 extra movies </a:t>
            </a:r>
          </a:p>
          <a:p>
            <a:r>
              <a:rPr lang="en-GB" dirty="0"/>
              <a:t>7 divided by 50 equals 0.14 bonus </a:t>
            </a:r>
          </a:p>
          <a:p>
            <a:r>
              <a:rPr lang="en-GB" dirty="0"/>
              <a:t>We add 0.14 to their Pearson score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93190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2EF6-3CDD-7125-4222-D07EFCFE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124" y="130463"/>
            <a:ext cx="10515600" cy="1325563"/>
          </a:xfrm>
        </p:spPr>
        <p:txBody>
          <a:bodyPr/>
          <a:lstStyle/>
          <a:p>
            <a:r>
              <a:rPr lang="en-GB" dirty="0"/>
              <a:t>Group Recommendations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B27C-4A9D-C37B-CD4F-07B15ECC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24" y="2600449"/>
            <a:ext cx="10549198" cy="410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Method 1: Average aggregation</a:t>
            </a:r>
            <a:r>
              <a:rPr lang="zh-CN" altLang="en-US" sz="2000" b="1" dirty="0"/>
              <a:t>       </a:t>
            </a:r>
            <a:r>
              <a:rPr lang="en-GB" sz="2000" b="1" dirty="0"/>
              <a:t>Method 2: Least misery aggregation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65A07-3FC4-2ED4-580D-AE21DF99DE8A}"/>
              </a:ext>
            </a:extLst>
          </p:cNvPr>
          <p:cNvSpPr txBox="1"/>
          <p:nvPr/>
        </p:nvSpPr>
        <p:spPr>
          <a:xfrm>
            <a:off x="303094" y="1065905"/>
            <a:ext cx="1158581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    </a:t>
            </a:r>
            <a:r>
              <a:rPr lang="en-GB" sz="2000" dirty="0"/>
              <a:t>New challenge</a:t>
            </a:r>
            <a:r>
              <a:rPr lang="zh-CN" altLang="en-US" sz="2000" dirty="0"/>
              <a:t> </a:t>
            </a:r>
            <a:r>
              <a:rPr lang="en-GB" sz="2000" dirty="0"/>
              <a:t>: How to Combine 3 Different Users' Preferences? </a:t>
            </a:r>
          </a:p>
          <a:p>
            <a:r>
              <a:rPr lang="en-GB" sz="2000" dirty="0"/>
              <a:t>      </a:t>
            </a:r>
            <a:r>
              <a:rPr lang="en-FI" sz="2000" dirty="0"/>
              <a:t>Example: </a:t>
            </a:r>
            <a:r>
              <a:rPr lang="en-GB" dirty="0"/>
              <a:t>Group User  [1, 414, 599 ]</a:t>
            </a:r>
          </a:p>
          <a:p>
            <a:r>
              <a:rPr lang="en-GB" dirty="0"/>
              <a:t>       Steps: Find unrated popular movies and predict score</a:t>
            </a:r>
          </a:p>
          <a:p>
            <a:r>
              <a:rPr lang="en-GB" dirty="0"/>
              <a:t>                     Find </a:t>
            </a:r>
            <a:r>
              <a:rPr lang="en-US" altLang="zh-CN" dirty="0"/>
              <a:t>c</a:t>
            </a:r>
            <a:r>
              <a:rPr lang="en-GB" dirty="0" err="1"/>
              <a:t>ommon</a:t>
            </a:r>
            <a:r>
              <a:rPr lang="en-GB" dirty="0"/>
              <a:t> </a:t>
            </a:r>
            <a:r>
              <a:rPr lang="en-US" altLang="zh-CN" dirty="0"/>
              <a:t>m</a:t>
            </a:r>
            <a:r>
              <a:rPr lang="en-GB" dirty="0" err="1"/>
              <a:t>ovies</a:t>
            </a:r>
            <a:r>
              <a:rPr lang="en-GB" dirty="0"/>
              <a:t> , Aggregate </a:t>
            </a:r>
            <a:r>
              <a:rPr lang="en-US" altLang="zh-CN" dirty="0"/>
              <a:t>u</a:t>
            </a:r>
            <a:r>
              <a:rPr lang="en-GB" dirty="0"/>
              <a:t>sing  </a:t>
            </a:r>
            <a:r>
              <a:rPr lang="en-US" altLang="zh-CN" dirty="0"/>
              <a:t>m</a:t>
            </a:r>
            <a:r>
              <a:rPr lang="en-GB" dirty="0" err="1"/>
              <a:t>ethods</a:t>
            </a:r>
            <a:r>
              <a:rPr lang="en-GB" dirty="0"/>
              <a:t> as below,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0526C-2854-5BF4-2DB7-2B4D2A232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60" y="2891494"/>
            <a:ext cx="3117423" cy="671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BF8EB1-B41B-1787-AF93-45A60788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757" y="3103370"/>
            <a:ext cx="3129932" cy="529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79DDC2-9756-751E-9EB9-8E17476B7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0" y="3607299"/>
            <a:ext cx="2980945" cy="29960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72B4EA-17CD-AF67-22DB-D01335B3D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757" y="3615526"/>
            <a:ext cx="2802279" cy="3068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0D397C-A46C-FC9F-5110-AF6C25DEE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248" y="3738356"/>
            <a:ext cx="3810000" cy="1193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FF5259-4999-E812-9D23-38A2C11D7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6768" y="5024286"/>
            <a:ext cx="1249253" cy="16596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9405DC-33EB-BAEF-EF04-FB9A13364A2D}"/>
              </a:ext>
            </a:extLst>
          </p:cNvPr>
          <p:cNvSpPr txBox="1"/>
          <p:nvPr/>
        </p:nvSpPr>
        <p:spPr>
          <a:xfrm>
            <a:off x="7772248" y="5646070"/>
            <a:ext cx="3111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What if we could have BOTH ? </a:t>
            </a:r>
          </a:p>
          <a:p>
            <a:r>
              <a:rPr lang="en-GB" sz="1400" dirty="0"/>
              <a:t>High satisfaction for the group </a:t>
            </a:r>
          </a:p>
          <a:p>
            <a:r>
              <a:rPr lang="en-GB" sz="1400" dirty="0"/>
              <a:t>Low disagreement between members</a:t>
            </a:r>
            <a:endParaRPr lang="en-FI" sz="1400" dirty="0"/>
          </a:p>
        </p:txBody>
      </p:sp>
    </p:spTree>
    <p:extLst>
      <p:ext uri="{BB962C8B-B14F-4D97-AF65-F5344CB8AC3E}">
        <p14:creationId xmlns:p14="http://schemas.microsoft.com/office/powerpoint/2010/main" val="414912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DD20D-3027-3F5A-2447-8C055279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42" y="249119"/>
            <a:ext cx="10515600" cy="1325563"/>
          </a:xfrm>
        </p:spPr>
        <p:txBody>
          <a:bodyPr/>
          <a:lstStyle/>
          <a:p>
            <a:r>
              <a:rPr lang="en-GB" dirty="0"/>
              <a:t>Group Recommendations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4CED7-8463-4B0D-387B-80A0E0BA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04" y="1470867"/>
            <a:ext cx="10738508" cy="1448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Method 3:   Balancing Strategy</a:t>
            </a:r>
            <a:r>
              <a:rPr lang="en-GB" sz="2000" dirty="0"/>
              <a:t> - Minimize satisfaction differences between users</a:t>
            </a:r>
            <a:endParaRPr lang="en-GB" sz="2000" b="1" dirty="0"/>
          </a:p>
          <a:p>
            <a:pPr marL="0" indent="0">
              <a:buNone/>
            </a:pPr>
            <a:r>
              <a:rPr lang="en-GB" sz="1800" dirty="0"/>
              <a:t>Formular: Balancing Strategy (</a:t>
            </a:r>
            <a:r>
              <a:rPr lang="en-GB" sz="1800" dirty="0" err="1"/>
              <a:t>Masthoff</a:t>
            </a:r>
            <a:r>
              <a:rPr lang="en-GB" sz="1800" dirty="0"/>
              <a:t> 2004)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B391F-0E9B-3FDD-05EE-DA7F553D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1" y="2286423"/>
            <a:ext cx="4442726" cy="1020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8B5D5F-B2D3-1CB8-AFCA-532E7256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406907"/>
            <a:ext cx="4015611" cy="1218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6FED1-C0AC-2C13-71DE-AC5B73661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558" y="3406907"/>
            <a:ext cx="5910374" cy="302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60BF6A-9668-086B-F76A-AE22D8F32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558" y="2454407"/>
            <a:ext cx="3111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8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381</Words>
  <Application>Microsoft Macintosh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User-Based Collaborative Filtering  for Group Recommendations</vt:lpstr>
      <vt:lpstr>Dataset &amp; Challenges Identified</vt:lpstr>
      <vt:lpstr>Finding Similar Users &amp; Predicting Ratings</vt:lpstr>
      <vt:lpstr>Enhanced Pearson Similarity</vt:lpstr>
      <vt:lpstr>Group Recommendations</vt:lpstr>
      <vt:lpstr>Group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Xiaosi Huang</dc:creator>
  <cp:lastModifiedBy>Xiaosi Huang</cp:lastModifiedBy>
  <cp:revision>5</cp:revision>
  <dcterms:created xsi:type="dcterms:W3CDTF">2025-11-04T08:51:58Z</dcterms:created>
  <dcterms:modified xsi:type="dcterms:W3CDTF">2025-11-05T10:01:26Z</dcterms:modified>
</cp:coreProperties>
</file>